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42e4feeb0b40f0" /><Relationship Type="http://schemas.openxmlformats.org/officeDocument/2006/relationships/extended-properties" Target="/docProps/app.xml" Id="Rda8f2f57dac14b9c" /><Relationship Type="http://schemas.openxmlformats.org/officeDocument/2006/relationships/officeDocument" Target="/ppt/presentation.xml" Id="Rc94b9f82c298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06d8a6767496e"/>
  </p:sldMasterIdLst>
  <p:notesMasterIdLst>
    <p:notesMasterId xmlns:r="http://schemas.openxmlformats.org/officeDocument/2006/relationships" r:id="R5ece5730e6f44bef"/>
  </p:notesMasterIdLst>
  <p:sldIdLst>
    <p:sldId xmlns:r="http://schemas.openxmlformats.org/officeDocument/2006/relationships" id="256" r:id="Re386614ace9648d1"/>
    <p:sldId xmlns:r="http://schemas.openxmlformats.org/officeDocument/2006/relationships" id="257" r:id="R480d5dc78e204ed3"/>
    <p:sldId xmlns:r="http://schemas.openxmlformats.org/officeDocument/2006/relationships" id="258" r:id="R7a461b62b0ae419f"/>
    <p:sldId xmlns:r="http://schemas.openxmlformats.org/officeDocument/2006/relationships" id="259" r:id="R94b479780d6d469d"/>
    <p:sldId xmlns:r="http://schemas.openxmlformats.org/officeDocument/2006/relationships" id="260" r:id="R7bbf855ab5ae41f0"/>
    <p:sldId xmlns:r="http://schemas.openxmlformats.org/officeDocument/2006/relationships" id="261" r:id="R0efd1acefc764175"/>
    <p:sldId xmlns:r="http://schemas.openxmlformats.org/officeDocument/2006/relationships" id="262" r:id="Rbb5ee020b67b4d65"/>
    <p:sldId xmlns:r="http://schemas.openxmlformats.org/officeDocument/2006/relationships" id="263" r:id="Rae903e0934314d4b"/>
    <p:sldId xmlns:r="http://schemas.openxmlformats.org/officeDocument/2006/relationships" id="264" r:id="R44d6fa5203fa4e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980fcc6d74137" /><Relationship Type="http://schemas.openxmlformats.org/officeDocument/2006/relationships/slideMaster" Target="/ppt/slideMasters/slideMaster1.xml" Id="R91506d8a6767496e" /><Relationship Type="http://schemas.openxmlformats.org/officeDocument/2006/relationships/notesMaster" Target="/ppt/notesMasters/notesMaster1.xml" Id="R5ece5730e6f44bef" /><Relationship Type="http://schemas.openxmlformats.org/officeDocument/2006/relationships/presProps" Target="/ppt/presProps.xml" Id="Rebdc4f26bc9248e0" /><Relationship Type="http://schemas.openxmlformats.org/officeDocument/2006/relationships/tableStyles" Target="/ppt/tableStyles.xml" Id="R3b88250ebc14499f" /><Relationship Type="http://schemas.openxmlformats.org/officeDocument/2006/relationships/slide" Target="/ppt/slides/slide1.xml" Id="Re386614ace9648d1" /><Relationship Type="http://schemas.openxmlformats.org/officeDocument/2006/relationships/slide" Target="/ppt/slides/slide2.xml" Id="R480d5dc78e204ed3" /><Relationship Type="http://schemas.openxmlformats.org/officeDocument/2006/relationships/slide" Target="/ppt/slides/slide3.xml" Id="R7a461b62b0ae419f" /><Relationship Type="http://schemas.openxmlformats.org/officeDocument/2006/relationships/slide" Target="/ppt/slides/slide4.xml" Id="R94b479780d6d469d" /><Relationship Type="http://schemas.openxmlformats.org/officeDocument/2006/relationships/slide" Target="/ppt/slides/slide5.xml" Id="R7bbf855ab5ae41f0" /><Relationship Type="http://schemas.openxmlformats.org/officeDocument/2006/relationships/slide" Target="/ppt/slides/slide6.xml" Id="R0efd1acefc764175" /><Relationship Type="http://schemas.openxmlformats.org/officeDocument/2006/relationships/slide" Target="/ppt/slides/slide7.xml" Id="Rbb5ee020b67b4d65" /><Relationship Type="http://schemas.openxmlformats.org/officeDocument/2006/relationships/slide" Target="/ppt/slides/slide8.xml" Id="Rae903e0934314d4b" /><Relationship Type="http://schemas.openxmlformats.org/officeDocument/2006/relationships/slide" Target="/ppt/slides/slide9.xml" Id="R44d6fa5203fa4e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f3de2610264e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8244d8c5434ab2" /><Relationship Type="http://schemas.openxmlformats.org/officeDocument/2006/relationships/notesMaster" Target="/ppt/notesMasters/notesMaster1.xml" Id="Rb1a095d3d2e24f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3a6912e3f64dc0" /><Relationship Type="http://schemas.openxmlformats.org/officeDocument/2006/relationships/notesMaster" Target="/ppt/notesMasters/notesMaster1.xml" Id="R48930a8b158745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2695a23a5840ae" /><Relationship Type="http://schemas.openxmlformats.org/officeDocument/2006/relationships/notesMaster" Target="/ppt/notesMasters/notesMaster1.xml" Id="Re7c4c63a92fa46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5776174df141e4" /><Relationship Type="http://schemas.openxmlformats.org/officeDocument/2006/relationships/notesMaster" Target="/ppt/notesMasters/notesMaster1.xml" Id="Rb70264b73acc4c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7e73ef9f6242a7" /><Relationship Type="http://schemas.openxmlformats.org/officeDocument/2006/relationships/notesMaster" Target="/ppt/notesMasters/notesMaster1.xml" Id="R13c6825ee8bc4a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e82fc723d49ae" /><Relationship Type="http://schemas.openxmlformats.org/officeDocument/2006/relationships/notesMaster" Target="/ppt/notesMasters/notesMaster1.xml" Id="Rfcf0d75b0c5f43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3bc88dc5274d0a" /><Relationship Type="http://schemas.openxmlformats.org/officeDocument/2006/relationships/notesMaster" Target="/ppt/notesMasters/notesMaster1.xml" Id="R6b51234d7c854b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b7eeef16674250" /><Relationship Type="http://schemas.openxmlformats.org/officeDocument/2006/relationships/notesMaster" Target="/ppt/notesMasters/notesMaster1.xml" Id="R6e9d4b67616246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6220a90d824f93" /><Relationship Type="http://schemas.openxmlformats.org/officeDocument/2006/relationships/notesMaster" Target="/ppt/notesMasters/notesMaster1.xml" Id="Re19308b45b7c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4.md, docs/RELEASE.md, README.md. Метрики относятся к внутренней групповой кросс-валидации. Локальная производительность не подтверждает H200.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053dbf218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bed8fcf6d44d5f" /><Relationship Type="http://schemas.openxmlformats.org/officeDocument/2006/relationships/slideLayout" Target="/ppt/slideLayouts/slideLayout1.xml" Id="Rdf429e1cb0cf46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29e1cb0cf46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136d2cf714a12" /><Relationship Type="http://schemas.openxmlformats.org/officeDocument/2006/relationships/notesSlide" Target="/ppt/notesSlides/notesSlide1.xml" Id="Rc4e5dff8a16a40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b52eb40564e40" /><Relationship Type="http://schemas.openxmlformats.org/officeDocument/2006/relationships/notesSlide" Target="/ppt/notesSlides/notesSlide2.xml" Id="R2965d2f0bf1945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4c8f866dd4d5a" /><Relationship Type="http://schemas.openxmlformats.org/officeDocument/2006/relationships/notesSlide" Target="/ppt/notesSlides/notesSlide3.xml" Id="Rb3a4a05645bc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5bc86a3b14bc0" /><Relationship Type="http://schemas.openxmlformats.org/officeDocument/2006/relationships/notesSlide" Target="/ppt/notesSlides/notesSlide4.xml" Id="Rcfbb438cc081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71f2ff0cb4e9d" /><Relationship Type="http://schemas.openxmlformats.org/officeDocument/2006/relationships/notesSlide" Target="/ppt/notesSlides/notesSlide5.xml" Id="R4a8b201c304a43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e3cdaf7704ed9" /><Relationship Type="http://schemas.openxmlformats.org/officeDocument/2006/relationships/notesSlide" Target="/ppt/notesSlides/notesSlide6.xml" Id="Rdb3ca9e9260440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c9c92e3034e2e" /><Relationship Type="http://schemas.openxmlformats.org/officeDocument/2006/relationships/notesSlide" Target="/ppt/notesSlides/notesSlide7.xml" Id="Rfa55f6d8ba7e48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abe27d0c74c48" /><Relationship Type="http://schemas.openxmlformats.org/officeDocument/2006/relationships/notesSlide" Target="/ppt/notesSlides/notesSlide8.xml" Id="R22a52086b5484c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fd1f971d24d46" /><Relationship Type="http://schemas.openxmlformats.org/officeDocument/2006/relationships/notesSlide" Target="/ppt/notesSlides/notesSlide9.xml" Id="R1207dc1992564b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3362E-D0AD-449C-A605-8084E60B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Kosti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82B4D-E033-444A-9D69-79ABB07C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Контроль качества DXA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Исследовательский сервис для кейса 04</a:t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Команда 78</a:t>
            </a:r>
          </a:p>
        </p:txBody>
      </p:sp>
    </p:spTree>
    <p:extLst>
      <p:ext uri="{BB962C8B-B14F-4D97-AF65-F5344CB8AC3E}">
        <p14:creationId xmlns:p14="http://schemas.microsoft.com/office/powerpoint/2010/main" val="1950190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0EA33-2397-484F-8EC1-1FBD076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Задача и выход сервиса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B36B8-998C-415F-9281-360C8E62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DICOM или ZIP с исследованиями позвоночника и бедра.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Одна строка на изображение: область, класс качества, типы нарушений, вероятность, UID, статус и время обработки.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Веб-интерфейс показывает превью и позволяет скачать CSV.</a:t>
            </a:r>
          </a:p>
        </p:txBody>
      </p:sp>
    </p:spTree>
    <p:extLst>
      <p:ext uri="{BB962C8B-B14F-4D97-AF65-F5344CB8AC3E}">
        <p14:creationId xmlns:p14="http://schemas.microsoft.com/office/powerpoint/2010/main" val="123936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2EC24-4965-4747-8347-DDE7C232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Пять типов нарушений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699EF-52F2-4ADA-892C-F507AED8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Позвоночник: некорректная укладка, невыравненная ось, посторонние предметы.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Бедро: некорректная укладка и некорректная область интереса.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Модель допускает несколько нарушений одновременно. Итоговый класс равен OR решений по типам.</a:t>
            </a:r>
          </a:p>
        </p:txBody>
      </p:sp>
    </p:spTree>
    <p:extLst>
      <p:ext uri="{BB962C8B-B14F-4D97-AF65-F5344CB8AC3E}">
        <p14:creationId xmlns:p14="http://schemas.microsoft.com/office/powerpoint/2010/main" val="1965365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AAE45-354D-437D-8BE8-C6A13DE6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A0EE5-4DF3-4B18-B27C-366E001C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DICOM: декодирование, rescale и VOI, инверсия MONOCHROME1, исключение padding.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ResNet18: ImageNet encoder, классификатор анатомии и семь бинарных выходов.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FastAPI и локальные веса в Docker. Инференс не требует внешних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236511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2F913-C8DB-4BB3-84DD-4D1FE35C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Данные и разбиение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C31E3-B374-4C0F-8EDC-D3B6CDD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499 файлов, 252 уникальных изображения: 99 позвоночника и 153 бедра.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Три групповых фолда: 83, 85 и 84 изображения. Связанные исследования и точные дубли остаются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Сторона 19 снимков бедра неизвестна. Пропуски и противоречивые метки исключены из функции потерь.</a:t>
            </a:r>
          </a:p>
        </p:txBody>
      </p:sp>
    </p:spTree>
    <p:extLst>
      <p:ext uri="{BB962C8B-B14F-4D97-AF65-F5344CB8AC3E}">
        <p14:creationId xmlns:p14="http://schemas.microsoft.com/office/powerpoint/2010/main" val="341125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C7781-EDE6-47D9-9C21-D7D0FAE8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Эксперименты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FA5AB-5784-41AF-9B5B-EA6E5A8B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ResNet18 без балансировки: macro-F1 пяти нарушений 0,000.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ResNet18 с балансировкой классов: macro-F1 0,290.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DINOv2 с линейной головой: macro-F1 0,246.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Рабочий комплект использует balanced ResNet18, 10 эпох и порог 0,5.</a:t>
            </a:r>
          </a:p>
        </p:txBody>
      </p:sp>
    </p:spTree>
    <p:extLst>
      <p:ext uri="{BB962C8B-B14F-4D97-AF65-F5344CB8AC3E}">
        <p14:creationId xmlns:p14="http://schemas.microsoft.com/office/powerpoint/2010/main" val="8564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43824-8826-4626-B579-6D4260C5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Метрики и ошибки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96794-A73A-4223-AED0-1CBFC5E1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Общее решение: F1 0,444, 95% CI [0,327–0,546].</a:t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ROC-AUC головы качества: 0,652, 95% CI [0,564–0,739].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38 TP, 31 FN, 109 TN и 64 FP на 242 размеченных изображениях.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Слабое место: ось позвоночника, F1 0,059. Калибровка требует улучшения: ECE 0,177.</a:t>
            </a:r>
          </a:p>
        </p:txBody>
      </p:sp>
    </p:spTree>
    <p:extLst>
      <p:ext uri="{BB962C8B-B14F-4D97-AF65-F5344CB8AC3E}">
        <p14:creationId xmlns:p14="http://schemas.microsoft.com/office/powerpoint/2010/main" val="1359683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D455C-795A-45BD-980F-8CD20D65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Скорость и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7AF96-A4DC-48F4-B87E-0024BC39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Локальный CPU: 499 файлов за 10,9–11,4 секунды, без технических ошибок. До 0,59 секунды суммарно на исследование.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Linux Docker: рабочая модель и API, около 278 MiB RAM в одиночном smoke-тесте. H200 не проверен.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Демо: загрузить DICOM/ZIP, открыть результат и превью, скачать CSV, проверить строку Failure повреждённого файла.</a:t>
            </a:r>
          </a:p>
        </p:txBody>
      </p:sp>
    </p:spTree>
    <p:extLst>
      <p:ext uri="{BB962C8B-B14F-4D97-AF65-F5344CB8AC3E}">
        <p14:creationId xmlns:p14="http://schemas.microsoft.com/office/powerpoint/2010/main" val="1458308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D3DA8-D833-4094-A120-61372DD7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Ограничения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A99D-11D5-4196-A82E-52C11DD5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Внутренняя кросс-валидация на малом наборе. Независимого клинического подтверждения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Проекция читается из ViewPosition. Без этого тега она неизвестна. Геометрическая локализация и DICOM SR отсутствуют.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C39"/>
                </a:solidFill>
                <a:latin typeface="Helvetica Neue"/>
                <a:ea typeface="Helvetica Neue"/>
                <a:cs typeface="Helvetica Neue"/>
              </a:rPr>
              <a:t>Следующие проверки: экспертная индексация, дополнительные данные для редких нарушений, внешняя валидация и замер на целевой машине.</a:t>
            </a:r>
          </a:p>
        </p:txBody>
      </p:sp>
    </p:spTree>
    <p:extLst>
      <p:ext uri="{BB962C8B-B14F-4D97-AF65-F5344CB8AC3E}">
        <p14:creationId xmlns:p14="http://schemas.microsoft.com/office/powerpoint/2010/main" val="1000713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2026-09-27T19:58:21.3230000Z</dcterms:created>
  <dcterms:modified xsi:type="dcterms:W3CDTF">2026-09-27T19:58:21.3230000Z</dcterms:modified>
</coreProperties>
</file>